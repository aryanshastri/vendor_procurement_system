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4DE17-A6AC-EFAA-2B06-A09840FE4F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2140A-8416-A625-815D-0000B6B85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F7D13-15F1-E46D-9F67-35D187236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EF8A-7F6D-4797-995D-7D70A09EDFC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D98E9-6161-ECE8-6397-874EB9B8C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567F3-5FE4-C916-1571-646FE3F46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BD46C-0163-49E2-8612-BB5830DC0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61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07B49-F9CE-CFB9-121A-9CBE465CB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CE5C0-DC67-1C0D-8B91-6617E425F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76443-44DB-A67B-AD8E-35EB4985D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EF8A-7F6D-4797-995D-7D70A09EDFC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EBCB9-AF94-4E6E-DF89-7A55E59E2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25194-EA19-E8C3-868D-F6A771798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BD46C-0163-49E2-8612-BB5830DC0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462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9C4A7-7838-E555-611D-62C5BFD02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8C366-340E-BE4C-EEC8-85D6FB357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C3FEF-9DFB-E50B-A226-F14D6CF7B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EF8A-7F6D-4797-995D-7D70A09EDFC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42D40-59DE-4EA5-B809-4AEA252A7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A9FCE-4D42-68CA-E22C-EA3090470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BD46C-0163-49E2-8612-BB5830DC0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244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9FE4F-EC62-340B-E722-9D119E84B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63E47-352E-9098-D32E-F2854622FB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8F04A4-C69E-FD53-4CC7-F81E445A9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BC7B9-4941-E509-DA9D-44E1ACC22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EF8A-7F6D-4797-995D-7D70A09EDFC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D4B0D-E5B9-8635-9D87-544E1F38A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4DC4C-8717-D615-015F-FF76FC9EC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BD46C-0163-49E2-8612-BB5830DC0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13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E4569-EBA0-8773-5B93-DDC1E0FE1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1CFB0-1C4E-64AC-B1BB-A0481DF56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70927E-907C-047B-9CEC-7409355A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DD5F31-7A55-0E1E-1671-1BD74889F9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9AAD98-D4DE-ADE3-FE42-6499C3A05B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C37FEE-8FDF-32F4-DBEF-9E2FCE34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EF8A-7F6D-4797-995D-7D70A09EDFC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D731FD-79E6-5370-6513-963287103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4A2CDB-08C3-C2C7-C540-E3554100D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BD46C-0163-49E2-8612-BB5830DC0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54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9880C-41AD-98E6-D240-FB593E9E5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CB30F9-935B-9154-6A82-5A79DF9D0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EF8A-7F6D-4797-995D-7D70A09EDFC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9BE73-77C7-9350-5035-2FEBAADEF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8F233-3D6E-40E7-A50A-4F5A727C1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BD46C-0163-49E2-8612-BB5830DC0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843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6C5BDC-CB3A-D759-774C-CAEDCF2C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EF8A-7F6D-4797-995D-7D70A09EDFC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EB5FE8-4EF0-97CB-3B8C-CD4C6661E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A691E-CA30-F3BC-32FA-C53B802E5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BD46C-0163-49E2-8612-BB5830DC0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88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4DEC-4E36-12CA-1714-B50F3776B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14C59-7E0B-DF7E-E244-5A3551BB6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A2A17-DFF9-AD80-DA44-C38819F9B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BFC38-64E7-F906-8C6B-E2AFDD61E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EF8A-7F6D-4797-995D-7D70A09EDFC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6BE99-6036-A9B5-1585-716C05F65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52263-9E93-7BB1-0776-6F21D26BB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BD46C-0163-49E2-8612-BB5830DC0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169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A2275-5981-4370-EF83-55E8C115E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2A8C57-5517-260E-8701-784A3A4511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1431E-9088-4C9A-7123-5D31B1959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A1FCDF-CCA5-ACE3-36C3-CA6E9F777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EF8A-7F6D-4797-995D-7D70A09EDFC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F737B-5136-5CAB-5C75-7F4ADB7B6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84A08-2ACA-345E-F6B4-3909946CE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BD46C-0163-49E2-8612-BB5830DC0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24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1D829-E138-8C96-4CD3-CD4788A4B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35162-9D22-F96A-ADE5-FCF98745A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7E8F7-08A0-B465-CB8B-D456BEE3C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EF8A-7F6D-4797-995D-7D70A09EDFC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25667-DA9F-3EBF-6A4C-928D00436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B07E8-C1D7-DFB3-7E8B-5C74159FA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BD46C-0163-49E2-8612-BB5830DC0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8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75C439-168D-3F42-BBDA-2E082204E5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81650F-C018-15F6-0DC9-73D159165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FF7BD-DB2E-BA36-8643-F8C769238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EF8A-7F6D-4797-995D-7D70A09EDFC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A9DC5-99E6-D8B5-8F17-F2B9BE1AC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A5B8E-3670-1A46-CF18-03061B14F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BD46C-0163-49E2-8612-BB5830DC0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366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EE8C6E-6D5D-A1F2-61DE-BD087DDAB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79E8E-7C86-424C-C87F-03229E124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A58A2-9F4B-1A93-D257-9B519BD33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9EF8A-7F6D-4797-995D-7D70A09EDFC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7EE6B-042C-D7C8-2A32-B8282B62C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1CAFA-1447-FB25-A360-F33B56BED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BD46C-0163-49E2-8612-BB5830DC0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322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A2AFB-BDA9-5245-3A12-51C0F94CA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387" y="1504336"/>
            <a:ext cx="11651226" cy="1769806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Smart Procurement &amp; Vendor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4D1A3-3639-9E6D-31A4-F009A6B4F8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44065"/>
            <a:ext cx="9144000" cy="437535"/>
          </a:xfrm>
        </p:spPr>
        <p:txBody>
          <a:bodyPr/>
          <a:lstStyle/>
          <a:p>
            <a:r>
              <a:rPr lang="en-US" dirty="0"/>
              <a:t>By:- Aryan Shastri , Batch 11</a:t>
            </a:r>
          </a:p>
        </p:txBody>
      </p:sp>
    </p:spTree>
    <p:extLst>
      <p:ext uri="{BB962C8B-B14F-4D97-AF65-F5344CB8AC3E}">
        <p14:creationId xmlns:p14="http://schemas.microsoft.com/office/powerpoint/2010/main" val="38146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86E5C-55C2-1ADA-E192-2399E2109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5964"/>
            <a:ext cx="10515600" cy="1325563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593B7-3970-93B8-477D-DC46B4B2F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35458"/>
            <a:ext cx="12192000" cy="4351338"/>
          </a:xfrm>
        </p:spPr>
        <p:txBody>
          <a:bodyPr/>
          <a:lstStyle/>
          <a:p>
            <a:r>
              <a:rPr lang="en-US" dirty="0"/>
              <a:t>In many organizations, procurement activities like requesting items, approving purchases, and managing vendors are still handled manually through emails, spreadsheets, or paper processes.</a:t>
            </a:r>
          </a:p>
          <a:p>
            <a:r>
              <a:rPr lang="en-US" dirty="0"/>
              <a:t>This leads to delays, lack of transparency, and difficulty in tracking the status of requests and approvals. </a:t>
            </a:r>
          </a:p>
          <a:p>
            <a:r>
              <a:rPr lang="en-US" dirty="0"/>
              <a:t>There is also no centralized system to manage vendor information or maintain proper audit records. As a result, procurement becomes inefficient, error-prone, and hard to monitor.</a:t>
            </a:r>
          </a:p>
        </p:txBody>
      </p:sp>
    </p:spTree>
    <p:extLst>
      <p:ext uri="{BB962C8B-B14F-4D97-AF65-F5344CB8AC3E}">
        <p14:creationId xmlns:p14="http://schemas.microsoft.com/office/powerpoint/2010/main" val="403936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C86D4-6B50-E08B-E5B3-A327A124E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3804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 Rounded MT Bold" panose="020F0704030504030204" pitchFamily="34" charset="0"/>
              </a:rPr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2DE13-661D-C26D-413D-AB8DE967E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6090"/>
            <a:ext cx="11992898" cy="596152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1700" dirty="0"/>
              <a:t>To address the challenges of manual procurement, I developed a Smart Procurement &amp; Vendor Management System that automates and streamlines the entire procurement lifecycle.</a:t>
            </a:r>
          </a:p>
          <a:p>
            <a:pPr>
              <a:lnSpc>
                <a:spcPct val="120000"/>
              </a:lnSpc>
            </a:pPr>
            <a:r>
              <a:rPr lang="en-US" sz="1700" dirty="0"/>
              <a:t>The system digitalizes requisition creation, approvals, purchase orders, and vendor management, ensuring transparency, control, and efficiency in procurement operations.</a:t>
            </a:r>
          </a:p>
          <a:p>
            <a:r>
              <a:rPr lang="en-US" sz="1700" dirty="0"/>
              <a:t>This solution provides several key features that enable organizations to manage procurement operations effectively: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700" b="1" dirty="0"/>
              <a:t>Digital Procurement Workflow</a:t>
            </a:r>
            <a:br>
              <a:rPr lang="en-US" sz="1700" dirty="0"/>
            </a:br>
            <a:r>
              <a:rPr lang="en-US" sz="1700" dirty="0"/>
              <a:t>Employees can create requisitions and track approvals digitally . This replaces slow manual processes with an automated workflow.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700" b="1" dirty="0"/>
              <a:t>Centralized Vendor &amp; Order Management</a:t>
            </a:r>
            <a:br>
              <a:rPr lang="en-US" sz="1700" dirty="0"/>
            </a:br>
            <a:r>
              <a:rPr lang="en-US" sz="1700" dirty="0"/>
              <a:t>All vendor and purchase order data is maintained in one system . This ensures accurate tracking and better supplier coordination.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700" b="1" dirty="0"/>
              <a:t>Secure Role-Based Access</a:t>
            </a:r>
            <a:br>
              <a:rPr lang="en-US" sz="1700" dirty="0"/>
            </a:br>
            <a:r>
              <a:rPr lang="en-US" sz="1700" dirty="0"/>
              <a:t>JWT authentication and roles control what each user can do. This protects procurement operations from unauthorized access.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700" b="1" dirty="0"/>
              <a:t>Approval &amp; Audit Transparency</a:t>
            </a:r>
            <a:br>
              <a:rPr lang="en-US" sz="1700" dirty="0"/>
            </a:br>
            <a:r>
              <a:rPr lang="en-US" sz="1700" dirty="0"/>
              <a:t>Approvals and actions are recorded with audit logs. This improves accountability and process visibility.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700" b="1" dirty="0"/>
              <a:t>Automated Reporting</a:t>
            </a:r>
            <a:br>
              <a:rPr lang="en-US" sz="1700" dirty="0"/>
            </a:br>
            <a:r>
              <a:rPr lang="en-US" sz="1700" dirty="0"/>
              <a:t>Reports can be generated in PDF and Excel formats. This helps monitor procurement and vendor performance.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700" b="1" dirty="0"/>
              <a:t>Scalable Backend Architecture</a:t>
            </a:r>
            <a:br>
              <a:rPr lang="en-US" sz="1700" dirty="0"/>
            </a:br>
            <a:r>
              <a:rPr lang="en-US" sz="1700" dirty="0"/>
              <a:t>The system uses layered Spring Boot REST architecture. This makes it maintainable and easy to expand in future.</a:t>
            </a:r>
          </a:p>
          <a:p>
            <a:endParaRPr lang="en-US" sz="1700" dirty="0"/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652186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4248E-CFB7-8E1C-C808-DBAABC750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8479"/>
            <a:ext cx="10515600" cy="1325563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Technology Stack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FD1B87-7F8E-9DFD-F1F2-74DD8EAAAA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678708"/>
            <a:ext cx="764703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Backend: Spring Boot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Security: Spring Security + JWT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Database: MySQL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ORM: JPA / Hibernate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Reporting: JasperReports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738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C36C0-3A59-BB77-A469-B7C5FDF18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963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Project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EEB0A-0432-38FB-3C96-A4C641FAE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dirty="0"/>
              <a:t>Client </a:t>
            </a:r>
          </a:p>
          <a:p>
            <a:pPr marL="0" indent="0" algn="ctr">
              <a:buNone/>
            </a:pPr>
            <a:r>
              <a:rPr lang="en-US" dirty="0"/>
              <a:t>  ↓</a:t>
            </a:r>
          </a:p>
          <a:p>
            <a:pPr marL="0" indent="0" algn="ctr">
              <a:buNone/>
            </a:pPr>
            <a:r>
              <a:rPr lang="en-US" dirty="0"/>
              <a:t>Controller Layer (REST APIs)</a:t>
            </a:r>
          </a:p>
          <a:p>
            <a:pPr marL="0" indent="0" algn="ctr">
              <a:buNone/>
            </a:pPr>
            <a:r>
              <a:rPr lang="en-US" dirty="0"/>
              <a:t>   ↓</a:t>
            </a:r>
          </a:p>
          <a:p>
            <a:pPr marL="0" indent="0" algn="ctr">
              <a:buNone/>
            </a:pPr>
            <a:r>
              <a:rPr lang="en-US" dirty="0"/>
              <a:t>Service Layer (Business Logic)</a:t>
            </a:r>
          </a:p>
          <a:p>
            <a:pPr marL="0" indent="0" algn="ctr">
              <a:buNone/>
            </a:pPr>
            <a:r>
              <a:rPr lang="en-US" dirty="0"/>
              <a:t>   ↓</a:t>
            </a:r>
          </a:p>
          <a:p>
            <a:pPr marL="0" indent="0" algn="ctr">
              <a:buNone/>
            </a:pPr>
            <a:r>
              <a:rPr lang="en-US" dirty="0"/>
              <a:t>Repository Layer (JPA)</a:t>
            </a:r>
          </a:p>
          <a:p>
            <a:pPr marL="0" indent="0" algn="ctr">
              <a:buNone/>
            </a:pPr>
            <a:r>
              <a:rPr lang="en-US" dirty="0"/>
              <a:t>   ↓</a:t>
            </a:r>
          </a:p>
          <a:p>
            <a:pPr marL="0" indent="0" algn="ctr">
              <a:buNone/>
            </a:pPr>
            <a:r>
              <a:rPr lang="en-US" dirty="0"/>
              <a:t>Entity Layer (JPA Entities)</a:t>
            </a:r>
          </a:p>
          <a:p>
            <a:pPr marL="0" indent="0" algn="ctr">
              <a:buNone/>
            </a:pPr>
            <a:r>
              <a:rPr lang="en-US" dirty="0"/>
              <a:t>    ↓</a:t>
            </a:r>
          </a:p>
          <a:p>
            <a:pPr marL="0" indent="0" algn="ctr">
              <a:buNone/>
            </a:pPr>
            <a:r>
              <a:rPr lang="en-US" dirty="0"/>
              <a:t>   MySQL Database</a:t>
            </a:r>
          </a:p>
        </p:txBody>
      </p:sp>
    </p:spTree>
    <p:extLst>
      <p:ext uri="{BB962C8B-B14F-4D97-AF65-F5344CB8AC3E}">
        <p14:creationId xmlns:p14="http://schemas.microsoft.com/office/powerpoint/2010/main" val="785820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FBF7C-87B8-A3D8-8034-B37EFFCF9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Database 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99597-A771-9A1B-8E99-61D228452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02850"/>
            <a:ext cx="12123174" cy="565011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1800" b="1" dirty="0"/>
              <a:t>User &amp; Role</a:t>
            </a:r>
            <a:br>
              <a:rPr lang="en-US" sz="1800" dirty="0"/>
            </a:br>
            <a:r>
              <a:rPr lang="en-US" sz="1800" dirty="0"/>
              <a:t>Manages system users and access permissions. Roles like Admin, Manager, and Employee control what actions users can perform.</a:t>
            </a:r>
          </a:p>
          <a:p>
            <a:pPr>
              <a:lnSpc>
                <a:spcPct val="120000"/>
              </a:lnSpc>
            </a:pPr>
            <a:r>
              <a:rPr lang="en-US" sz="1800" b="1" dirty="0"/>
              <a:t>Vendor</a:t>
            </a:r>
            <a:br>
              <a:rPr lang="en-US" sz="1800" dirty="0"/>
            </a:br>
            <a:r>
              <a:rPr lang="en-US" sz="1800" dirty="0"/>
              <a:t>Stores supplier information such as name, contact, status, documents, and ratings used for vendor evaluation.</a:t>
            </a:r>
          </a:p>
          <a:p>
            <a:pPr>
              <a:lnSpc>
                <a:spcPct val="120000"/>
              </a:lnSpc>
            </a:pPr>
            <a:r>
              <a:rPr lang="en-US" sz="1800" b="1" dirty="0"/>
              <a:t>Requisition &amp; Items</a:t>
            </a:r>
            <a:br>
              <a:rPr lang="en-US" sz="1800" dirty="0"/>
            </a:br>
            <a:r>
              <a:rPr lang="en-US" sz="1800" dirty="0"/>
              <a:t>Represents internal purchase requests created by employees. Each requisition contains multiple requested items.</a:t>
            </a:r>
          </a:p>
          <a:p>
            <a:pPr>
              <a:lnSpc>
                <a:spcPct val="120000"/>
              </a:lnSpc>
            </a:pPr>
            <a:r>
              <a:rPr lang="en-US" sz="1800" b="1" dirty="0"/>
              <a:t>Purchase Order &amp; Items</a:t>
            </a:r>
            <a:br>
              <a:rPr lang="en-US" sz="1800" dirty="0"/>
            </a:br>
            <a:r>
              <a:rPr lang="en-US" sz="1800" dirty="0"/>
              <a:t>Generated from approved requisitions and sent to vendors. Contains ordered products, pricing, and order status.</a:t>
            </a:r>
          </a:p>
          <a:p>
            <a:pPr>
              <a:lnSpc>
                <a:spcPct val="120000"/>
              </a:lnSpc>
            </a:pPr>
            <a:r>
              <a:rPr lang="en-US" sz="1800" b="1" dirty="0"/>
              <a:t>Approval</a:t>
            </a:r>
            <a:br>
              <a:rPr lang="en-US" sz="1800" dirty="0"/>
            </a:br>
            <a:r>
              <a:rPr lang="en-US" sz="1800" dirty="0"/>
              <a:t>Tracks approval or rejection of requisitions and purchase orders with approver details and timestamps.</a:t>
            </a:r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017594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90F56-6655-B654-E347-ADC70404E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3804"/>
            <a:ext cx="10515600" cy="1325563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Authentication 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2FFCE6-16C8-9164-A940-97D0E9CF5E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6748"/>
            <a:ext cx="12192000" cy="608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765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E617D-D2E1-E69B-D87E-A9F49FE4C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7316"/>
            <a:ext cx="10515600" cy="1325563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Complete Workflow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B3515C8-2255-2F29-7091-E1E62D0D2A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2556"/>
            <a:ext cx="12191999" cy="583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809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B2C91-2446-0509-9FEA-F682E21D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7484"/>
            <a:ext cx="10515600" cy="1325563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Role Responsibility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008D5-6597-4148-63BD-47CC09D4B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86296"/>
            <a:ext cx="12113342" cy="4351338"/>
          </a:xfrm>
        </p:spPr>
        <p:txBody>
          <a:bodyPr/>
          <a:lstStyle/>
          <a:p>
            <a:r>
              <a:rPr lang="en-US" dirty="0"/>
              <a:t>Different roles in the system ensure controlled procurement operations.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Users create requisitions, procurement managers review and approve them, and administrators manage vendors, users, and system.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Role-based permissions ensure users can only perform actions relevant to their responsibilities, improving security and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3034038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96B8B-588D-1B69-B68E-154BE2357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6299"/>
            <a:ext cx="10515600" cy="1325563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Requisition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7BCA6-354D-AA56-E230-E5E759FC3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86296"/>
            <a:ext cx="12192000" cy="490947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requisition moves through defined stages starting from creation by a user.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It then enters approval status where managers review it.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Once approved, it is converted into a purchase order.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If rejected, it is closed with remarks.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lifecycle ensures structured tracking of purchase requests and prevents unauthorized procurement.</a:t>
            </a:r>
          </a:p>
        </p:txBody>
      </p:sp>
    </p:spTree>
    <p:extLst>
      <p:ext uri="{BB962C8B-B14F-4D97-AF65-F5344CB8AC3E}">
        <p14:creationId xmlns:p14="http://schemas.microsoft.com/office/powerpoint/2010/main" val="2249530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89040-BAA7-99D5-9F19-60DA0F853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6467"/>
            <a:ext cx="10515600" cy="1325563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API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B8001-DF40-03AC-A1AB-55E148D70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76464"/>
            <a:ext cx="11965858" cy="5081536"/>
          </a:xfrm>
        </p:spPr>
        <p:txBody>
          <a:bodyPr/>
          <a:lstStyle/>
          <a:p>
            <a:r>
              <a:rPr lang="en-US" dirty="0"/>
              <a:t>The system exposes RESTful APIs organized by modules such as authentication, procurement, vendor, and reporting.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Each module contains endpoints for create, read, update, and delete operations.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APIs follow standard HTTP methods and JSON responses, enabling easy integration with frontend applications or external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115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8BA99-1A29-8DE4-7E37-EE312430A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Security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D71C7-5145-8C36-671E-B16AA5883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02839"/>
            <a:ext cx="12192000" cy="5022542"/>
          </a:xfrm>
        </p:spPr>
        <p:txBody>
          <a:bodyPr/>
          <a:lstStyle/>
          <a:p>
            <a:r>
              <a:rPr lang="en-US" dirty="0"/>
              <a:t>Security is implemented using Spring Security with JWT authentication and role-based authorization.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Passwords are encrypted using BCrypt hashing.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Protected endpoints require valid tokens, and permissions are checked before executing actions.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This ensures secure access control and protects procurement data from unauthorized use.</a:t>
            </a:r>
          </a:p>
        </p:txBody>
      </p:sp>
    </p:spTree>
    <p:extLst>
      <p:ext uri="{BB962C8B-B14F-4D97-AF65-F5344CB8AC3E}">
        <p14:creationId xmlns:p14="http://schemas.microsoft.com/office/powerpoint/2010/main" val="3745150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7CA8E-400C-842A-8FF0-BD2622BF1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7976"/>
            <a:ext cx="10515600" cy="1325563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D091D-E109-62D5-837E-DAAF29FE5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78142"/>
            <a:ext cx="12103510" cy="4981882"/>
          </a:xfrm>
        </p:spPr>
        <p:txBody>
          <a:bodyPr/>
          <a:lstStyle/>
          <a:p>
            <a:r>
              <a:rPr lang="en-US" dirty="0"/>
              <a:t>The system includes centralized exception handling using a global exception handler.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All errors such as resource not found, unauthorized access, or business rule violations are captured and returned as structured API responses.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provides consistent error messages and improves debugging and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1552491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B25A0-AF15-1876-3D04-55F9D72BA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0539"/>
            <a:ext cx="10515600" cy="1325563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B5BAE-2DB2-9872-914B-638D5AD84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52457"/>
            <a:ext cx="12192000" cy="235308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system provides end-to-end procurement automation including requisition creation, approval workflow, vendor management, purchase order tracking, reporting, and audit logging.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Role-based security and JWT authentication ensure safe access, while layered architecture supports scalability and maintainability.</a:t>
            </a:r>
          </a:p>
        </p:txBody>
      </p:sp>
    </p:spTree>
    <p:extLst>
      <p:ext uri="{BB962C8B-B14F-4D97-AF65-F5344CB8AC3E}">
        <p14:creationId xmlns:p14="http://schemas.microsoft.com/office/powerpoint/2010/main" val="3053932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5FA5-3900-2259-F044-AAF5A3C1E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35"/>
            <a:ext cx="10515600" cy="1325563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9601C-E773-7A4B-9D08-BE3397E49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76464"/>
            <a:ext cx="12192000" cy="4351338"/>
          </a:xfrm>
        </p:spPr>
        <p:txBody>
          <a:bodyPr/>
          <a:lstStyle/>
          <a:p>
            <a:r>
              <a:rPr lang="en-US" dirty="0"/>
              <a:t>Currently, the system uses basic reporting data and does not include advanced analytics or real-time vendor integration.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Multi-level approval rules and notification features are limited.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frontend interface is also minimal, focusing mainly on backend functionality and API operations.</a:t>
            </a:r>
          </a:p>
        </p:txBody>
      </p:sp>
    </p:spTree>
    <p:extLst>
      <p:ext uri="{BB962C8B-B14F-4D97-AF65-F5344CB8AC3E}">
        <p14:creationId xmlns:p14="http://schemas.microsoft.com/office/powerpoint/2010/main" val="3589298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7F6D8-653A-93AE-15AE-0A28F6627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6466"/>
            <a:ext cx="10515600" cy="1325563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12FC-6563-DE9C-9371-D212425BF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50090"/>
            <a:ext cx="12192000" cy="4351338"/>
          </a:xfrm>
        </p:spPr>
        <p:txBody>
          <a:bodyPr/>
          <a:lstStyle/>
          <a:p>
            <a:r>
              <a:rPr lang="en-US" dirty="0"/>
              <a:t>Future improvements include advanced dashboards, email and notification alerts, real-time vendor integration, multi-stage approval workflows, and analytics reporting.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Cloud deployment and microservice architecture can further improve scalability and enterprise readiness.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68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51412-CF5D-1305-B86F-C3E81DDD1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292"/>
            <a:ext cx="10515600" cy="1325563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C1516-B8FF-599E-DAB9-F5EE3F390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5122"/>
            <a:ext cx="12192000" cy="4351338"/>
          </a:xfrm>
        </p:spPr>
        <p:txBody>
          <a:bodyPr/>
          <a:lstStyle/>
          <a:p>
            <a:r>
              <a:rPr lang="en-US" dirty="0"/>
              <a:t>The Procurement &amp; Vendor Management System successfully digitizes procurement processes, improving efficiency, transparency, and control.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It demonstrates secure authentication, structured workflow management, and scalable architecture using modern Spring Boot technologies.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system can serve as a foundation for enterprise procurement automation.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283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929</Words>
  <Application>Microsoft Office PowerPoint</Application>
  <PresentationFormat>Widescreen</PresentationFormat>
  <Paragraphs>102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Arial Rounded MT Bold</vt:lpstr>
      <vt:lpstr>Calibri</vt:lpstr>
      <vt:lpstr>Calibri Light</vt:lpstr>
      <vt:lpstr>Wingdings</vt:lpstr>
      <vt:lpstr>Office Theme</vt:lpstr>
      <vt:lpstr>Smart Procurement &amp; Vendor Management System</vt:lpstr>
      <vt:lpstr>Problem Statement</vt:lpstr>
      <vt:lpstr>Solution</vt:lpstr>
      <vt:lpstr>Technology Stack</vt:lpstr>
      <vt:lpstr>Project Architecture</vt:lpstr>
      <vt:lpstr>Database Design </vt:lpstr>
      <vt:lpstr>Authentication Flow</vt:lpstr>
      <vt:lpstr>Complete Workflow</vt:lpstr>
      <vt:lpstr>Role Responsibility</vt:lpstr>
      <vt:lpstr>Requisition Lifecycle</vt:lpstr>
      <vt:lpstr>API Structure</vt:lpstr>
      <vt:lpstr>Security Implementation</vt:lpstr>
      <vt:lpstr>Error Handling</vt:lpstr>
      <vt:lpstr>Key Features</vt:lpstr>
      <vt:lpstr>Limitations</vt:lpstr>
      <vt:lpstr>Future Enhancements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Uday Shastri</dc:creator>
  <cp:lastModifiedBy>Uday Shastri</cp:lastModifiedBy>
  <cp:revision>5</cp:revision>
  <dcterms:created xsi:type="dcterms:W3CDTF">2026-02-19T16:14:06Z</dcterms:created>
  <dcterms:modified xsi:type="dcterms:W3CDTF">2026-02-23T15:18:16Z</dcterms:modified>
</cp:coreProperties>
</file>